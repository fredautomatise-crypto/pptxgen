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Bienvenue dans ce module consacré aux webhooks et au Data Store de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Dans ce module, on va voir comment créer un webhook personnalisé, le sécuriser, puis stocker les données reçues dans un Data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quelques chiffres clés à connaître sur le Data Store avant de commencer.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Passons maintenant à la création concrète d'un webhook personnalisé.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Créer un webhook se fait en trois étapes simples que je vais détailler.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existe deux grandes approches pour récupérer des données externes, comparons-les.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Voici à quoi ressemble le flux complet, de bout en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résumer ce que nous avons vu dans ce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3840480" cy="384048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"/>
            <a:ext cx="2377440" cy="23774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8640"/>
            <a:ext cx="1280160" cy="12801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48640"/>
            <a:ext cx="4480560" cy="292608"/>
          </a:xfrm>
          <a:prstGeom prst="roundRect">
            <a:avLst>
              <a:gd name="adj" fmla="val 50000"/>
            </a:avLst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MODULE 4 DE 6  ·  PPTXGEN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961120" cy="11228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WEBHOOKS &amp; DATA STORE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7363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1">
                <a:solidFill>
                  <a:srgbClr val="E2E8F0"/>
                </a:solidFill>
                <a:latin typeface="Cambria"/>
              </a:rPr>
              <a:t>Recevoir des données externes et les stocker dans Make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71723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PptxGen  ·  AI Course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93B"/>
                </a:solidFill>
                <a:latin typeface="Cambria"/>
              </a:rPr>
              <a:t>Ce que vous allez maîtriser dans ce module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92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3560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Créer un Custom Webhook et comprendre son cycle de vie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92">
                <a:solidFill>
                  <a:srgbClr val="FFFFFF"/>
                </a:solidFill>
              </a:rPr>
              <a:t>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1284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Sécuriser un webhook avec un token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92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Stocker des données structurées avec le Data Store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92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Mapper les payloads JSON entrants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870655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645920"/>
            <a:ext cx="3413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C2370A"/>
                </a:solidFill>
                <a:latin typeface="Calibri"/>
              </a:rPr>
              <a:t>PRÉREQUIS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11680"/>
            <a:ext cx="3413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Avoir suivi le Module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95728"/>
            <a:ext cx="3413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Compte Make.com 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79776"/>
            <a:ext cx="3413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Notions de JSON basiques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4434840"/>
            <a:ext cx="3870655" cy="8229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5C9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572000"/>
            <a:ext cx="34134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C2370A"/>
                </a:solidFill>
                <a:latin typeface="Calibri"/>
              </a:rPr>
              <a:t>DURÉE ESTIMÉE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846320"/>
            <a:ext cx="3413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293B"/>
                </a:solidFill>
                <a:latin typeface="Calibri"/>
              </a:rPr>
              <a:t>20 – 25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PptxGen  ·  Module 4 – Webhooks &amp; Data Store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93B"/>
                </a:solidFill>
                <a:latin typeface="Cambria"/>
              </a:rPr>
              <a:t>Le Data Store en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Ce qu'il faut retenir sur le stockage Make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30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454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8410C"/>
                </a:solidFill>
                <a:latin typeface="Cambria"/>
              </a:rPr>
              <a:t>100 000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E293B"/>
                </a:solidFill>
                <a:latin typeface="Calibri"/>
              </a:rPr>
              <a:t>Records 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34542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Par data store sur les plans standards</a:t>
            </a:r>
          </a:p>
        </p:txBody>
      </p:sp>
      <p:sp>
        <p:nvSpPr>
          <p:cNvPr id="9" name="Oval 8"/>
          <p:cNvSpPr/>
          <p:nvPr/>
        </p:nvSpPr>
        <p:spPr>
          <a:xfrm>
            <a:off x="4368698" y="210312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3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788920"/>
            <a:ext cx="3454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284C7"/>
                </a:solidFill>
                <a:latin typeface="Cambria"/>
              </a:rPr>
              <a:t>Illimitée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342900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E293B"/>
                </a:solidFill>
                <a:latin typeface="Calibri"/>
              </a:rPr>
              <a:t>Rétention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8" y="3886200"/>
            <a:ext cx="34542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Tant que le data store existe</a:t>
            </a:r>
          </a:p>
        </p:txBody>
      </p:sp>
      <p:sp>
        <p:nvSpPr>
          <p:cNvPr id="13" name="Oval 12"/>
          <p:cNvSpPr/>
          <p:nvPr/>
        </p:nvSpPr>
        <p:spPr>
          <a:xfrm>
            <a:off x="8188756" y="21031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3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8756" y="2788920"/>
            <a:ext cx="3454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B981"/>
                </a:solidFill>
                <a:latin typeface="Cambria"/>
              </a:rPr>
              <a:t>10+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8756" y="3429000"/>
            <a:ext cx="3454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E293B"/>
                </a:solidFill>
                <a:latin typeface="Calibri"/>
              </a:rPr>
              <a:t>Champs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756" y="3886200"/>
            <a:ext cx="34542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Types de champs supportés (texte, nombre, date...)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PptxGen  ·  Module 4 – Webhooks &amp; Data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3840480" cy="384048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"/>
            <a:ext cx="2377440" cy="23774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8640"/>
            <a:ext cx="1280160" cy="12801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1847088" cy="292608"/>
          </a:xfrm>
          <a:prstGeom prst="roundRect">
            <a:avLst>
              <a:gd name="adj" fmla="val 50000"/>
            </a:avLst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Les Webhooks personnalisés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93B"/>
                </a:solidFill>
                <a:latin typeface="Cambria"/>
              </a:rPr>
              <a:t>Les 3 étapes pour créer un Custom Webhook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70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10500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Créer le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746504"/>
            <a:ext cx="10500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Dans Make, ajoute un module Webhooks &gt; Custom Webhook et copie l'URL générée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7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377440"/>
            <a:ext cx="10500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Connecter la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06624"/>
            <a:ext cx="10500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Colle cette URL dans l'application externe (formulaire, CRM, API tierce)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7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37560"/>
            <a:ext cx="105000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293B"/>
                </a:solidFill>
                <a:latin typeface="Calibri"/>
              </a:rPr>
              <a:t>Déterminer la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666744"/>
            <a:ext cx="10500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Envoie un exemple de payload pour que Make détecte automatiquement les champs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PptxGen  ·  Module 4 – Webhooks &amp; Data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93B"/>
                </a:solidFill>
                <a:latin typeface="Cambria"/>
              </a:rPr>
              <a:t>Webhook vs Polling : quand utiliser quoi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64327" cy="4754880"/>
          </a:xfrm>
          <a:prstGeom prst="roundRect">
            <a:avLst>
              <a:gd name="adj" fmla="val 8000"/>
            </a:avLst>
          </a:prstGeom>
          <a:solidFill>
            <a:srgbClr val="FCF6F5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990011"/>
                </a:solidFill>
                <a:latin typeface="Calibri"/>
              </a:rPr>
              <a:t>⚡ WEBHOOK (temps réel)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Déclenchement instantané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Idéal pour les événements critiques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Nécessite que la source supporte les webhooks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417320"/>
            <a:ext cx="5364327" cy="47548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1600200"/>
            <a:ext cx="490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F766E"/>
                </a:solidFill>
                <a:latin typeface="Calibri"/>
              </a:rPr>
              <a:t>⏱ POLLING (planifié)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0574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Vérifie à intervalle régulier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5146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Fonctionne avec toute API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971800"/>
            <a:ext cx="49071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–  Léger délai selon la fréquence choisie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PptxGen  ·  Module 4 – Webhooks &amp; Data 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93B"/>
                </a:solidFill>
                <a:latin typeface="Cambria"/>
              </a:rPr>
              <a:t>Flux complet : formulaire vers Data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407843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E8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51393" y="2907792"/>
            <a:ext cx="402336" cy="402336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44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24078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Formulaire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4078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Soumission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6483" y="32004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E8410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2243" y="2743200"/>
            <a:ext cx="2407843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24997" y="2907792"/>
            <a:ext cx="402336" cy="402336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44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2243" y="3429000"/>
            <a:ext cx="24078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Webhook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2243" y="3749039"/>
            <a:ext cx="24078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Réception du 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087" y="32004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E8410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7" y="2743200"/>
            <a:ext cx="2407843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98601" y="2907792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44">
                <a:solidFill>
                  <a:srgbClr val="FFFFFF"/>
                </a:solidFill>
              </a:rPr>
              <a:t>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429000"/>
            <a:ext cx="24078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3749039"/>
            <a:ext cx="24078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Transformation des champs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691" y="32004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E8410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451" y="2743200"/>
            <a:ext cx="2407843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2205" y="2907792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44">
                <a:solidFill>
                  <a:srgbClr val="FFFFFF"/>
                </a:solidFill>
              </a:rPr>
              <a:t>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451" y="3429000"/>
            <a:ext cx="240784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E293B"/>
                </a:solidFill>
                <a:latin typeface="Calibri"/>
              </a:rPr>
              <a:t>Data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451" y="3749039"/>
            <a:ext cx="24078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Enregistrement 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PptxGen  ·  Module 4 – Webhooks &amp; Data Store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3840480" cy="384048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82880"/>
            <a:ext cx="2377440" cy="237744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548640"/>
            <a:ext cx="1280160" cy="128016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548640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RÉCAPITULATIF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Ce qu'il faut retenir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03120"/>
            <a:ext cx="320040" cy="320040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1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84831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2E8F0"/>
                </a:solidFill>
                <a:latin typeface="Calibri"/>
              </a:rPr>
              <a:t>Un webhook reçoit des données en temps réel depuis n'importe quelle source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06039"/>
            <a:ext cx="320040" cy="320040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1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87751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2E8F0"/>
                </a:solidFill>
                <a:latin typeface="Calibri"/>
              </a:rPr>
              <a:t>Le Data Store permet de stocker jusqu'à 100 000 enregistrements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108959"/>
            <a:ext cx="320040" cy="320040"/>
          </a:xfrm>
          <a:prstGeom prst="ellipse">
            <a:avLst/>
          </a:prstGeom>
          <a:solidFill>
            <a:srgbClr val="E8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1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90671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2E8F0"/>
                </a:solidFill>
                <a:latin typeface="Calibri"/>
              </a:rPr>
              <a:t>Le mapping JSON se fait automatiquement après un premier envoi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PptxGen  ·  AI Course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